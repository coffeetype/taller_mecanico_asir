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0:00–0:30. Saludo, nombre y título. Una frase: el trabajo integra aplicación web LAMP, contenedores, despliegue en AWS y observabilidad con Prometheus y Grafana. No leer la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0:30–1:00. Anuncia los tres bloques del documento (7.4). Indica que habrá demo en navegador, terminal y Grafana. Reserva tiempo al final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1:00–1:30. Contexto breve: no es solo 'una web', sino un servicio desplegable y observable. Conecta con la memoria (introducción).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1:30–2:00. Lista corta; no leer palabra por palabra. Subraya integración ciclo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2:00–2:45. Relaciona cada módulo con lo que enseñarás después. Coherencia con Tabla 1 de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2:45–3:30. Señala flujo de datos y fronteras. Menciona que el diagrama está en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3:30–5:00. DEMO: navegador — flujo corto login + cita + vista admin si aplica. Habla sobre valor para el taller, no sobre cada fichero 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5:00–5:45. Explica entidades clave y flujo usuario→cita. No entrar en cada columna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5:45–6:45. DEMO: docker compose ps. Explica por qué no exponer MySQL. Enlaza con competencias ASIR.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6:45–7:30. Resume riesgos y mitigaciones. Menciona alineación con prácticas del documento (§5.2 y simulador).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7:30–8:30. Muestra el diagrama: un solo slide. Si hay tiempo, una captura de consola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8:30–9:30. Mensaje: la observabilidad no es decorativa; alimenta operación y defensa del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9:30–11:00. DEMO: targets en Prometheus, dashboard Grafana, carga breve (JMeter/UI) y comenta tráfico real vs simulado, como en el plan 7.4.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11:00–12:00. Resume en tres frases; el detalle queda en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12:00–12:45. Una cifra memorable. Indica que es orientativo y depende de región/tráfico.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12:45–13:45. Honestidad + visión profesional. Cierra el arco objetivos→resultado→siguientes pasos.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Cierre (~2–4 min en guion de 20 min). Repite solo lo imprescindible de la demo si ya lo enseñaste; prioriza margen para preguntas (rúbrica: exposición + respuestas).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Montserrat"/>
              </a:rPr>
              <a:t>Implantación y monitorización de un sistema web</a:t>
            </a:r>
          </a:p>
          <a:p>
            <a:r>
              <a:rPr sz="3600" b="1">
                <a:solidFill>
                  <a:srgbClr val="1E3A5F"/>
                </a:solidFill>
                <a:latin typeface="Montserrat"/>
              </a:rPr>
              <a:t>para la gestión de un taller mecánico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2C3E50"/>
                </a:solidFill>
                <a:latin typeface="Open Sans"/>
              </a:rPr>
              <a:t>Proyecto final de ciclo — CFGS Administración de Sistemas Informáticos en Red</a:t>
            </a:r>
          </a:p>
          <a:p>
            <a:r>
              <a:rPr sz="1800" b="0">
                <a:solidFill>
                  <a:srgbClr val="2C3E50"/>
                </a:solidFill>
                <a:latin typeface="Open Sans"/>
              </a:rPr>
              <a:t>Autor: Antonio Corredera Cubells</a:t>
            </a:r>
          </a:p>
          <a:p>
            <a:r>
              <a:rPr sz="1800" b="0">
                <a:solidFill>
                  <a:srgbClr val="2C3E50"/>
                </a:solidFill>
                <a:latin typeface="Open Sans"/>
              </a:rPr>
              <a:t>Curso académico: 2025/2026</a:t>
            </a:r>
          </a:p>
          <a:p>
            <a:r>
              <a:rPr sz="1800" b="0">
                <a:solidFill>
                  <a:srgbClr val="2C3E50"/>
                </a:solidFill>
                <a:latin typeface="Open Sans"/>
              </a:rPr>
              <a:t>Centro docente: [indicar centro]</a:t>
            </a:r>
          </a:p>
          <a:p>
            <a:r>
              <a:rPr sz="1800" b="0">
                <a:solidFill>
                  <a:srgbClr val="2C3E50"/>
                </a:solidFill>
                <a:latin typeface="Open Sans"/>
              </a:rPr>
              <a:t>Tutor/a individual: [indicar tutor/a]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Estructura de la exposición (~20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Bloque 1 — Problema, objetivos y encaje en el ciclo ASIR (≈5 min)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Bloque 2 — Diseño, aplicación, datos, Docker, seguridad y AWS (≈7 min)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Bloque 3 — Monitorización, evidencias y validación (≈6 min)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Cierre — Presupuesto, conclusiones, mejoras y turno de preguntas (≈2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Problema y alcance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Un taller mecánico necesita ordenar citas, comunicación con clientes y administración interna.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Se implantó una solución web con perfiles visitante, usuario registrado y administrador.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El foco ASIR va más allá del CRUD: infraestructura reproducible, seguridad, cloud y métricas.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Objetivos del PFC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Diseñar e implantar una aplicación web funcional para la gestión básica de un taller mecánico.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Definir una base de datos relacional (usuarios, citas, noticias, consejos) con integridad referencial.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Publicar la solución con Docker para despliegue reproducible en local y en cloud.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Añadir monitorización: salud del sistema, uso de la aplicación, BD y métricas de negocio.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Documentar despliegue profesional en AWS con costes, seguridad perimetral y mantenimiento.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Competencias del CFGS ASIR aplicadas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11247120" cy="1463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5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E3A5F"/>
                          </a:solidFill>
                          <a:latin typeface="Calibri"/>
                        </a:defRPr>
                      </a:pPr>
                      <a:r>
                        <a:t>Módulo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E3A5F"/>
                          </a:solidFill>
                          <a:latin typeface="Calibri"/>
                        </a:defRPr>
                      </a:pPr>
                      <a:r>
                        <a:t>Contenidos aplicados en el PFC</a:t>
                      </a:r>
                    </a:p>
                  </a:txBody>
                  <a:tcPr/>
                </a:tc>
              </a:tr>
              <a:tr h="36575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Implantación de Aplicaciones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PHP, Apache, sesiones, MVC ligero, formularios, panel admin, API citas.</a:t>
                      </a:r>
                    </a:p>
                  </a:txBody>
                  <a:tcPr/>
                </a:tc>
              </a:tr>
              <a:tr h="36575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Planificación y Administración de Redes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Docker Compose, redes, volúmenes, DNS interno, reglas de entrada en AWS (SG).</a:t>
                      </a:r>
                    </a:p>
                  </a:txBody>
                  <a:tcPr/>
                </a:tc>
              </a:tr>
              <a:tr h="3657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Proyecto de administración de sistemas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Planificación, documentación, despliegue EC2, observabilidad y pruebas.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Arquitectura general (Fig. 1)</a:t>
            </a:r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241280" cy="45981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49240"/>
            <a:ext cx="11247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Capa web (Apache/PHP) y persistencia MySQL.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Stack Prometheus / Grafana / Alertmanager y exportadores.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Simulador de carga opcional para evidencia en defensa.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Aplicación web — perfiles y funciones principales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11247120" cy="1463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5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E3A5F"/>
                          </a:solidFill>
                          <a:latin typeface="Calibri"/>
                        </a:defRPr>
                      </a:pPr>
                      <a:r>
                        <a:t>Perfil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E3A5F"/>
                          </a:solidFill>
                          <a:latin typeface="Calibri"/>
                        </a:defRPr>
                      </a:pPr>
                      <a:r>
                        <a:t>Funciones (resumen)</a:t>
                      </a:r>
                    </a:p>
                  </a:txBody>
                  <a:tcPr/>
                </a:tc>
              </a:tr>
              <a:tr h="36575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Visitante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Inicio, noticias, registro, login, solicitud de cita (invitado).</a:t>
                      </a:r>
                    </a:p>
                  </a:txBody>
                  <a:tcPr/>
                </a:tc>
              </a:tr>
              <a:tr h="36575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Usuario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Gestión de perfil y citas en entorno autenticado.</a:t>
                      </a:r>
                    </a:p>
                  </a:txBody>
                  <a:tcPr/>
                </a:tc>
              </a:tr>
              <a:tr h="36576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Administrador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Gestión de citas, noticias, usuarios y utilidades de operación.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Modelo de datos y flujo de reserva (Fig. 2 y 3)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394960" cy="4335236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94960" cy="37572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Implantación con Docker Compose</a:t>
            </a:r>
          </a:p>
        </p:txBody>
      </p:sp>
      <p:pic>
        <p:nvPicPr>
          <p:cNvPr id="3" name="Picture 2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6583680" cy="868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49240"/>
            <a:ext cx="11247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Servicios: web, MySQL, Prometheus, Grafana, Alertmanager, exportadores según compose.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Healthchecks: el servicio web espera a BD lista; evita fallos en arranque.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MySQL sin publicar puertos al host en producción; reduce superficie de ataque.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Seguridad de aplicación e infraestructura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Aplicación: sesiones PHP, validación de entradas, separación de roles admin/usuario.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Red: Security Groups en AWS; acceso restringido a Prometheus, Grafana, Alertmanager y MySQL.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Simulador de carga: token de control, límites de URLs y TLS; evita abuso si se expone la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Despliegue en AWS (EC2 + Docker Compose)</a:t>
            </a:r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515600" cy="2628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49240"/>
            <a:ext cx="11247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Instancia EC2 con bootstrap (user-data) para instalar Docker y levantar el stack.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Reglas de entrada mínimas para HTTP/HTTPS y UIs de monitorización según laboratorio.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Documentación de costes y operación en la memoria y en docs/ del repositorio.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Monitorización y observabilidad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Prometheus recoge métricas de contenedores, MySQL, Node, blackbox y endpoint PHP (métricas app).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Grafana visualiza dashboards preprovisionados (JSON en monitoring/grafana/).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Alertmanager notifica incidencias (SMTP/SES según configuración).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Evidencias: Grafana y estado de contenedores</a:t>
            </a:r>
          </a:p>
        </p:txBody>
      </p:sp>
      <p:pic>
        <p:nvPicPr>
          <p:cNvPr id="3" name="Picture 2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394960" cy="1111443"/>
          </a:xfrm>
          <a:prstGeom prst="rect">
            <a:avLst/>
          </a:prstGeom>
        </p:spPr>
      </p:pic>
      <p:pic>
        <p:nvPicPr>
          <p:cNvPr id="4" name="Picture 3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94960" cy="7120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Validación y pruebas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Pruebas funcionales: flujos de registro, login, citas, noticias y administración.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Pruebas de despliegue: arranque reproducible con Docker y comprobación de servicios.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Matriz de pruebas en memoria (§7.3): trazabilidad entre requisito y evidencia.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Presupuesto anual orientativo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Coste total orientativo documentado: ~1.146 EUR/año (infra cloud, dominio, correo, etc.).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Desglose principal en la memoria (Tablas de §6.2): instancia, almacenamiento, tiempo de operación.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El presupuesto acompaña decisiones técnicas con estimación explícita, no solo listado de precios.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Conclusiones y mejoras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Consecución: web operativa, BD normalizada, Docker local/AWS, monitorización activa.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Límites razonables del tiempo de proyecto (HTTPS definitivo, endurecimiento adicional, etc.).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Mejoras propuestas en memoria: RDS, CI/CD, backups en S3, políticas RGPD.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1E3A5F"/>
                </a:solidFill>
                <a:latin typeface="Montserrat"/>
              </a:rPr>
              <a:t>Demostración en vivo y preguntas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Checklist rápida: app en navegador → docker compose ps → Grafana/Prometheus → carga breve.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Agradecimiento al tribunal y al tutor.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Open Sans"/>
              </a:defRPr>
            </a:pPr>
            <a:r>
              <a:rPr sz="1600" b="0">
                <a:solidFill>
                  <a:srgbClr val="2C3E50"/>
                </a:solidFill>
                <a:latin typeface="Open Sans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PFC — Taller mecánico (ASIR)</dc:title>
  <dc:subject/>
  <dc:creator>Antonio Corredera Cubells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